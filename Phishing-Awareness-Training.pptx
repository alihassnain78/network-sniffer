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Phishing Awareness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BDEFB"/>
                </a:solidFill>
              </a:defRPr>
            </a:pPr>
            <a:r>
              <a:t>Recognize attacks · Resist social engineering · Stay safe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3F2FD"/>
                </a:solidFill>
              </a:defRPr>
            </a:pPr>
            <a:r>
              <a:t>Cybersecurity Awareness — Task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Understand what phishing is and why it matters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Spot suspicious emails and fraudulent websites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Recognize common social engineering tactics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Apply practical habits to protect yourself and your organization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Practice decision-making with real scenarios and quizzes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</a:defRPr>
            </a:pPr>
            <a:r>
              <a:t>What Is Phishing?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Phishing: criminals impersonate trusted people/brands to steal passwords or data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Email phishing — fake invoices, password resets, delivery notices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Smishing &amp; vishing — fraudulent SMS or phone calls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Spear phishing — personalized attacks on specific people or roles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Why it works: urgency, fear, curiosity, and trust in familiar brands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</a:defRPr>
            </a:pPr>
            <a:r>
              <a:t>How to Recognize Phishing Emails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Urgent language — “Your account will be closed in 24 hours”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Unexpected attachments — especially .zip, .html, or macros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Generic greetings — “Dear Customer” instead of your name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Suspicious sender — look-alike domains (e.g. paypa1.com)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Strange links — hover to preview URL before clicking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Spelling &amp; grammar errors — often a red flag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Requests for secrets — legitimate services never ask for your password by email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</a:defRPr>
            </a:pPr>
            <a:r>
              <a:t>Example: Suspicious Email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8046720" cy="3474720"/>
          </a:xfrm>
          <a:prstGeom prst="roundRect">
            <a:avLst/>
          </a:prstGeom>
          <a:solidFill>
            <a:srgbClr val="FAFA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C62828"/>
                </a:solidFill>
                <a:latin typeface="Consolas"/>
              </a:defRPr>
            </a:pPr>
            <a:r>
              <a:t>From: security@microsft-login.com  ← typo in domain</a:t>
            </a:r>
          </a:p>
          <a:p>
            <a:pPr>
              <a:defRPr sz="1600">
                <a:solidFill>
                  <a:srgbClr val="333333"/>
                </a:solidFill>
                <a:latin typeface="Consolas"/>
              </a:defRPr>
            </a:pPr>
            <a:r>
              <a:t>Subject: URGENT: Verify your account now!!!</a:t>
            </a:r>
          </a:p>
          <a:p>
            <a:pPr>
              <a:defRPr sz="16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333333"/>
                </a:solidFill>
                <a:latin typeface="Consolas"/>
              </a:defRPr>
            </a:pPr>
            <a:r>
              <a:t>Dear User,</a:t>
            </a:r>
          </a:p>
          <a:p>
            <a:pPr>
              <a:defRPr sz="1600">
                <a:solidFill>
                  <a:srgbClr val="333333"/>
                </a:solidFill>
                <a:latin typeface="Consolas"/>
              </a:defRPr>
            </a:pPr>
            <a:r>
              <a:t>We detected unusual activity. Click below within 2 hours</a:t>
            </a:r>
          </a:p>
          <a:p>
            <a:pPr>
              <a:defRPr sz="1600">
                <a:solidFill>
                  <a:srgbClr val="333333"/>
                </a:solidFill>
                <a:latin typeface="Consolas"/>
              </a:defRPr>
            </a:pPr>
            <a:r>
              <a:t>or your account will be suspended.</a:t>
            </a:r>
          </a:p>
          <a:p>
            <a:pPr>
              <a:defRPr sz="16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defRPr sz="1600">
                <a:solidFill>
                  <a:srgbClr val="C62828"/>
                </a:solidFill>
                <a:latin typeface="Consolas"/>
              </a:defRPr>
            </a:pPr>
            <a:r>
              <a:t>Link: http://microsft-verify.xyz/login  ← NOT microsoft.com</a:t>
            </a:r>
          </a:p>
          <a:p>
            <a:pPr>
              <a:defRPr sz="1600">
                <a:solidFill>
                  <a:srgbClr val="333333"/>
                </a:solidFill>
                <a:latin typeface="Consolas"/>
              </a:defRPr>
            </a:pPr>
            <a:r>
              <a:t>Enter your password to confirm identity.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62828"/>
                </a:solidFill>
              </a:defRPr>
            </a:pPr>
            <a:r>
              <a:t>Never click the link. Report to IT/security and delete.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</a:defRPr>
            </a:pPr>
            <a:r>
              <a:t>Spotting Fake Websites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Check the URL bar — HTTPS alone is not enough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Watch for misspellings: amaz0n.com, app1e.com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Padlock can appear on malicious sites — verify the domain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Poor design, broken images, or odd pop-ups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Legitimate: https://www.paypal.com/signin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Fake: https://www.paypa1-secure.com/signin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Fake: https://paypal.security-check.net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</a:defRPr>
            </a:pPr>
            <a:r>
              <a:t>Social Engineering Tactics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8412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Tactic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attackers do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Your defense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Urgency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"Act now or lose access"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Pause. Verify through official channel.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Authority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Fake CEO/CFO email (BEC)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Confirm transfers by phone (known number).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Clone colleague's email 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Check sender; call/chat to confirm.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Curiosity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"Salary list 2026.xlsx"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Don't open unexpected files.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Helpfulness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"Buy gift cards for the team"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Follow policy; escalate to manager.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Scarcity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"Only 3 spots — claim prize"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If too good to be true, it 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</a:defRPr>
            </a:pPr>
            <a:r>
              <a:t>Best Practices — Stay 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Enable multi-factor authentication (MFA) everywhere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Use a password manager — unique passwords per site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Verify requests via a second channel (call, in person)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Keep software and browsers updated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Report suspicious messages to IT / security team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Never share OTP codes, passwords, or remote-access codes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Type important URLs yourself — don’t trust email links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</a:defRPr>
            </a:pPr>
            <a:r>
              <a:t>Real-World Example 1: CEO Fraud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8046720" cy="292608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333333"/>
                </a:solidFill>
              </a:defRPr>
            </a:pPr>
            <a:r>
              <a:t>A finance employee received an email appearing to be from the CEO during a business trip, requesting an urgent wire transfer to a “new vendor.” The tone matched previous emails. The transfer was $48,000.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47A1"/>
                </a:solidFill>
              </a:defRPr>
            </a:pPr>
            <a:r>
              <a:t>Lesson: Verify high-value payment requests by calling the executive on a known number — never reply only to the email.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</a:defRPr>
            </a:pPr>
            <a:r>
              <a:t>Real-World Example 2: Fake Microsoft Login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8046720" cy="292608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333333"/>
                </a:solidFill>
              </a:defRPr>
            </a:pPr>
            <a:r>
              <a:t>Staff clicked a link in a “shared document” email. The page looked identical to Microsoft login. Credentials were stolen; attackers accessed email and sent more phishing internally.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47A1"/>
                </a:solidFill>
              </a:defRPr>
            </a:pPr>
            <a:r>
              <a:t>Lesson: Check the URL. Use bookmarked login pages. Report and reset password immediately if compromised.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</a:defRPr>
            </a:pPr>
            <a:r>
              <a:t>Real-World Example 3: Delivery SMS (Smishing)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8046720" cy="2926080"/>
          </a:xfrm>
          <a:prstGeom prst="roundRect">
            <a:avLst/>
          </a:prstGeom>
          <a:solidFill>
            <a:srgbClr val="E3F2FD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333333"/>
                </a:solidFill>
              </a:defRPr>
            </a:pPr>
            <a:r>
              <a:t>Text: “Your package could not be delivered. Pay $1.99 redelivery fee: [link].” The link led to a fake payment page harvesting card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47A1"/>
                </a:solidFill>
              </a:defRPr>
            </a:pPr>
            <a:r>
              <a:t>Lesson: Track packages only on the carrier’s official app or website. Ignore fee requests via random SMS links.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</a:defRPr>
            </a:pPr>
            <a:r>
              <a:t>Quiz 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You receive an email from “IT Support” asking you to confirm your password via a link because of a “system upgrade.” What should you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A.  Click the link and enter your password quickly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B.  Reply to the email with your password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C.  Do not click; contact IT using the official helpdesk number or portal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D.  Forward the email to all colleagues as a warning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Answer: C — (discuss before revealing)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</a:defRPr>
            </a:pPr>
            <a:r>
              <a:t>Quiz 1 —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6949440" cy="228600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>
                <a:solidFill>
                  <a:srgbClr val="2E7D32"/>
                </a:solidFill>
              </a:defRPr>
            </a:pPr>
            <a:r>
              <a:t>Correct! IT will never ask for your password by email. Always use official IT channels.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</a:defRPr>
            </a:pPr>
            <a:r>
              <a:t>Quiz 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Which URL is most likely a phishing attempt?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A.  https://accounts.google.com/signin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B.  https://accounts-google.secure-login.io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C.  https://myaccount.google.com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D.  https://support.google.com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Answer: B — (discuss before revealing)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</a:defRPr>
            </a:pPr>
            <a:r>
              <a:t>Quiz 2 —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6949440" cy="228600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>
                <a:solidFill>
                  <a:srgbClr val="2E7D32"/>
                </a:solidFill>
              </a:defRPr>
            </a:pPr>
            <a:r>
              <a:t>Correct! Unrelated domains pretending to be Google are a classic phishing sign.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</a:defRPr>
            </a:pPr>
            <a:r>
              <a:t>Quiz 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A caller says they are from your bank and need your OTP to “reverse a fraudulent transaction.” What is this?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A.  Normal bank procedure — share the OTP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B.  Safe if they know your account number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C.  Vishing (voice phishing) — hang up and call the bank using the number on your card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D.  Only dangerous if they ask for your PIN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Answer: C — (discuss before revealing)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</a:defRPr>
            </a:pPr>
            <a:r>
              <a:t>Quiz 3 —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6949440" cy="228600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>
                <a:solidFill>
                  <a:srgbClr val="2E7D32"/>
                </a:solidFill>
              </a:defRPr>
            </a:pPr>
            <a:r>
              <a:t>Correct! Banks never ask for your OTP by phone. Never share OTP codes with callers.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</a:defRPr>
            </a:pPr>
            <a:r>
              <a:t>Quiz 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Your manager emails from a slightly odd address asking you to buy gift cards urgently. Best action?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A.  Buy the cards — manager’s request is always valid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B.  Verify by phone or in person before any purchase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C.  Buy a small amount to test if it’s real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D.  Send the card codes in the same email thread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Answer: B — (discuss before revealing)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</a:defRPr>
            </a:pPr>
            <a:r>
              <a:t>Quiz 4 —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6949440" cy="228600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>
                <a:solidFill>
                  <a:srgbClr val="2E7D32"/>
                </a:solidFill>
              </a:defRPr>
            </a:pPr>
            <a:r>
              <a:t>Correct! Gift-card scams are common in BEC attacks. Always verify out-of-band.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</a:defRPr>
            </a:pPr>
            <a:r>
              <a:t>Quiz Question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Which is the strongest everyday defense against phishing?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A.  Using the same strong password everywhere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B.  Only reading email on your phone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C.  Multi-factor authentication (MFA) + skepticism + reporting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D.  Disabling your antivirus to avoid false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Answer: C — (discuss before revealing)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</a:defRPr>
            </a:pPr>
            <a:r>
              <a:t>Quiz 5 —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6949440" cy="228600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>
                <a:solidFill>
                  <a:srgbClr val="2E7D32"/>
                </a:solidFill>
              </a:defRPr>
            </a:pPr>
            <a:r>
              <a:t>Correct! MFA blocks many attacks even if a password is stolen.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Phishing targets people, not just systems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Check sender, links, and urgency before you act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Social engineering exploits trust, fear, and hurry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Verify through official channels; use MFA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Report suspicious messages — you protect everyone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When in doubt, don’t click. Ask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1223</Words>
  <Application>Microsoft Office PowerPoint</Application>
  <PresentationFormat>On-screen Show (4:3)</PresentationFormat>
  <Paragraphs>134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ALI HUSSNAIN</dc:creator>
  <cp:keywords/>
  <dc:description>generated using python-pptx</dc:description>
  <cp:lastModifiedBy>ALI HUSSNAIN</cp:lastModifiedBy>
  <cp:revision>1</cp:revision>
  <dcterms:created xsi:type="dcterms:W3CDTF">2013-01-27T09:14:16Z</dcterms:created>
  <dcterms:modified xsi:type="dcterms:W3CDTF">2026-06-01T13:32:27Z</dcterms:modified>
  <cp:category/>
</cp:coreProperties>
</file>